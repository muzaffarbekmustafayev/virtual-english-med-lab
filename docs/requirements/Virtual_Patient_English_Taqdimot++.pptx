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42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Ochilish. Bir jumla bilan ilinib qoling: bu tibbiyot talabalarini real bemor bilan ingliz tilida gaplashishga tayyorlaydigan AI platforma. Duolingo emas — klinik muloqot.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Muammoni og’riq sifatida ko’rsating. To’rt nuqta — mashq joyi yo’q, o’qituvchi kam, qo’rquv, ilovalar sun’iy. Buyurtmachi bu og’riqni tanishi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Yechimni uch ustunda ayting: real muloqot, darhol baho, cheksiz mashq. Kalit fikr — bu native o’qituvchini masshtablaydi.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Aylanma jarayonni ko’rsating: tayyorgarlik → suhbat → baho → tuzatish → mustaqil sinov. Har modul — to’liq 90 daqiqalik dars, jami 10 modul.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“wow” slayd. Maket — illyustratsiya, tayyor mahsulot emas. Buyurtmachi ko’z oldida talaba tajribasini jonlantiring: bemor shikoyat qiladi, talaba savol beradi, oxirida baho chiqadi.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Mijozga aniq ro’yxat bering. Urg’u: bu ishlaydigan tizim, bosqichma-bosqich yetkaziladi, hamma pul birdan ketmaydi.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Masshtab hikoyasi — investorning asosiy qiziqishi. Aniq bozor raqamlarini (talabalar soni, OTM soni, o’rtacha to’lov) shu yerga qo’shing.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Bosqichlar riskni kamaytiradi. Buyurtmachi avval kichik natijani ko’radi, keyin davom etadi — bu ishonch va past to’lov to’sig’i.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kun — real jadval, lekin faqat kelishilgan hajm uchun. Kontent kechiksa muddat ham suriladi — buni oldindan ayting.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 variant bering — mijoz “ha/yo’q” emas, “qaysi biri” deb o’ylaydi. O’rtadagi Optimal tanlanishi ehtimoli yuqori. AI/server xarajati alohida ekanini albatta ayting. Talaba soni chegarasi (100 talaba) shartnomada yozilsin.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Yopilish. Chaqiruv — MVP’dan boshlash. Aniq muddat, narx va aloqa ma’lumotini shu slaydda ayting.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640080"/>
            <a:ext cx="1920240" cy="1143000"/>
          </a:xfrm>
          <a:prstGeom prst="roundRect">
            <a:avLst>
              <a:gd name="adj" fmla="val 28000"/>
            </a:avLst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5029200"/>
            <a:ext cx="1554480" cy="960120"/>
          </a:xfrm>
          <a:prstGeom prst="roundRect">
            <a:avLst>
              <a:gd name="adj" fmla="val 30476"/>
            </a:avLst>
          </a:prstGeom>
          <a:solidFill>
            <a:srgbClr val="02C39A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5394960"/>
            <a:ext cx="1828800" cy="1051560"/>
          </a:xfrm>
          <a:prstGeom prst="roundRect">
            <a:avLst>
              <a:gd name="adj" fmla="val 27826"/>
            </a:avLst>
          </a:prstGeom>
          <a:solidFill>
            <a:srgbClr val="00A896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6868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8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9692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868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Patient English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859536" y="32918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Tibbiyot talabalari uchun sun’iy intellekt asosidagi</a:t>
            </a:r>
            <a:endParaRPr lang="en-US" sz="2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ingliz tili muloqot platformasi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59536" y="58064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 AI-bemor bilan ingliz tilida suhbatlashadi · darhol baho oladi · cheksiz mashq qiladi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 err="1" smtClean="0">
                <a:solidFill>
                  <a:srgbClr val="15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Bemor</a:t>
            </a:r>
            <a:r>
              <a:rPr lang="en-US" sz="3000" b="1" dirty="0" smtClean="0">
                <a:solidFill>
                  <a:srgbClr val="15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>
                <a:solidFill>
                  <a:srgbClr val="15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ingliz tilida gaplasha olish yo’q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615184" cy="297180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441448"/>
            <a:ext cx="786384" cy="78638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316" y="2653772"/>
            <a:ext cx="361737" cy="3617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" y="338328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Mashq qiladigan joy yo’q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60704" y="3977640"/>
            <a:ext cx="21396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 real, xavfsiz sharoitda bemor bilan ingliz tilida suhbatlashib ko’ra olmaydi — faqat nazariya.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57600" y="2148840"/>
            <a:ext cx="2615184" cy="297180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13632" y="2441448"/>
            <a:ext cx="786384" cy="78638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956" y="2653772"/>
            <a:ext cx="361737" cy="3617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95344" y="338328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O’qituvchi yetishmaydi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895344" y="3977640"/>
            <a:ext cx="21396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talaba bilan alohida ingliz tilida suhbat o’tkazadigan native-darajali mutaxassis kam va qimmat.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92240" y="2148840"/>
            <a:ext cx="2615184" cy="297180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48272" y="2441448"/>
            <a:ext cx="786384" cy="78638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596" y="2653772"/>
            <a:ext cx="361737" cy="3617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9984" y="338328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Gapirishdan qo’rquv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729984" y="3977640"/>
            <a:ext cx="21396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qilishdan qo’rqib, talaba ingliz tilida ochiq gapira olmaydi — amaliyot boshlanmaydi.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326880" y="2148840"/>
            <a:ext cx="2615184" cy="297180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82912" y="2441448"/>
            <a:ext cx="786384" cy="78638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5236" y="2653772"/>
            <a:ext cx="361737" cy="3617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64624" y="338328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Ilovalar yordam bermaydi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564624" y="3977640"/>
            <a:ext cx="21396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Test-tanlovli ilovalar (Duolingo va b.) real klinik muloqotni emas, so’z yodlashni o’rgatadi.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Natijada: kadr tayyor, lekin xalqaro darajada muloqotga tayyor emas.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3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640080"/>
            <a:ext cx="1920240" cy="1143000"/>
          </a:xfrm>
          <a:prstGeom prst="roundRect">
            <a:avLst>
              <a:gd name="adj" fmla="val 28000"/>
            </a:avLst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5029200"/>
            <a:ext cx="1554480" cy="960120"/>
          </a:xfrm>
          <a:prstGeom prst="roundRect">
            <a:avLst>
              <a:gd name="adj" fmla="val 30476"/>
            </a:avLst>
          </a:prstGeom>
          <a:solidFill>
            <a:srgbClr val="02C39A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5394960"/>
            <a:ext cx="1828800" cy="1051560"/>
          </a:xfrm>
          <a:prstGeom prst="roundRect">
            <a:avLst>
              <a:gd name="adj" fmla="val 27826"/>
            </a:avLst>
          </a:prstGeom>
          <a:solidFill>
            <a:srgbClr val="00A896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Virtual Bemor + darhol ekspert bahosi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 istagancha, cheksiz marta — real bemor bilan gaplashgandek mashq qiladi. Xavfsiz. Kuzatiladi. Baholanadi.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3383280" cy="3108960"/>
          </a:xfrm>
          <a:prstGeom prst="roundRect">
            <a:avLst>
              <a:gd name="adj" fmla="val 4118"/>
            </a:avLst>
          </a:prstGeom>
          <a:solidFill>
            <a:srgbClr val="0B4653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310896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544" y="3343504"/>
            <a:ext cx="399593" cy="3995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3856" y="4160520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muloqot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133856" y="4663440"/>
            <a:ext cx="2761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B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Yozma yoki ovozli — AI bemor rolini o’ynaydi, talaba haqiqiy klinik suhbatni olib boradi.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480560" y="2743200"/>
            <a:ext cx="3383280" cy="3108960"/>
          </a:xfrm>
          <a:prstGeom prst="roundRect">
            <a:avLst>
              <a:gd name="adj" fmla="val 4118"/>
            </a:avLst>
          </a:prstGeom>
          <a:solidFill>
            <a:srgbClr val="0B4653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310896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144" y="3343504"/>
            <a:ext cx="399593" cy="3995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91456" y="4160520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Darhol baho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791456" y="4663440"/>
            <a:ext cx="2761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B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Grammatika, lug’at, ravonlik va klinik muloqot bo’yicha suhbat oxirida avtomatik feedback.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138160" y="2743200"/>
            <a:ext cx="3383280" cy="3108960"/>
          </a:xfrm>
          <a:prstGeom prst="roundRect">
            <a:avLst>
              <a:gd name="adj" fmla="val 4118"/>
            </a:avLst>
          </a:prstGeom>
          <a:solidFill>
            <a:srgbClr val="0B4653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58200" y="310896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2744" y="3343504"/>
            <a:ext cx="399593" cy="3995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49056" y="4160520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Cheksiz mashq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49056" y="4663440"/>
            <a:ext cx="2761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B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ishlaydi. Talaba xatosini tuzatib, yangi bemor bilan qayta-qayta mashq qiladi.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ISHLAYDI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talabaning 90 daqiqasi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modul — to’liq bir dars. Talaba tayyorlanadi, gaplashadi, baho oladi va yaxshilaydi.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696669" cy="2880360"/>
          </a:xfrm>
          <a:prstGeom prst="roundRect">
            <a:avLst>
              <a:gd name="adj" fmla="val 7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5223" y="2029968"/>
            <a:ext cx="603504" cy="60350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223" y="202082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12927" y="2834640"/>
            <a:ext cx="768096" cy="7680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313" y="3042026"/>
            <a:ext cx="353324" cy="3533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3703320"/>
            <a:ext cx="155036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" y="4325112"/>
            <a:ext cx="155036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 so’zlari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1792" y="4727448"/>
            <a:ext cx="155036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daq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428189" y="2331720"/>
            <a:ext cx="1696669" cy="2880360"/>
          </a:xfrm>
          <a:prstGeom prst="roundRect">
            <a:avLst>
              <a:gd name="adj" fmla="val 7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974772" y="2029968"/>
            <a:ext cx="603504" cy="60350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74772" y="202082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892476" y="2834640"/>
            <a:ext cx="768096" cy="7680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62" y="3042026"/>
            <a:ext cx="353324" cy="3533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01341" y="3703320"/>
            <a:ext cx="155036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Phrasebook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501341" y="4325112"/>
            <a:ext cx="155036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Yordam iboralari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501341" y="4727448"/>
            <a:ext cx="155036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307738" y="2331720"/>
            <a:ext cx="1696669" cy="2880360"/>
          </a:xfrm>
          <a:prstGeom prst="roundRect">
            <a:avLst>
              <a:gd name="adj" fmla="val 7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854321" y="2029968"/>
            <a:ext cx="603504" cy="60350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54321" y="202082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4772025" y="2834640"/>
            <a:ext cx="768096" cy="7680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9411" y="3042026"/>
            <a:ext cx="353324" cy="35332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380890" y="3703320"/>
            <a:ext cx="155036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Patient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380890" y="4325112"/>
            <a:ext cx="155036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 bilan suhbat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380890" y="4727448"/>
            <a:ext cx="155036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daq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187288" y="2331720"/>
            <a:ext cx="1696669" cy="2880360"/>
          </a:xfrm>
          <a:prstGeom prst="roundRect">
            <a:avLst>
              <a:gd name="adj" fmla="val 7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733870" y="2029968"/>
            <a:ext cx="603504" cy="60350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733870" y="202082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6651574" y="2834640"/>
            <a:ext cx="768096" cy="7680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960" y="3042026"/>
            <a:ext cx="353324" cy="35332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260440" y="3703320"/>
            <a:ext cx="155036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6260440" y="4325112"/>
            <a:ext cx="155036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baho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6260440" y="4727448"/>
            <a:ext cx="155036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8066837" y="2331720"/>
            <a:ext cx="1696669" cy="2880360"/>
          </a:xfrm>
          <a:prstGeom prst="roundRect">
            <a:avLst>
              <a:gd name="adj" fmla="val 7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8613419" y="2029968"/>
            <a:ext cx="603504" cy="60350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613419" y="202082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Shape 34"/>
          <p:cNvSpPr/>
          <p:nvPr/>
        </p:nvSpPr>
        <p:spPr>
          <a:xfrm>
            <a:off x="8531123" y="2834640"/>
            <a:ext cx="768096" cy="7680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8509" y="3042026"/>
            <a:ext cx="353324" cy="35332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8139989" y="3703320"/>
            <a:ext cx="155036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8139989" y="4325112"/>
            <a:ext cx="155036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Xatoni tuzatish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8139989" y="4727448"/>
            <a:ext cx="155036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daq</a:t>
            </a:r>
            <a:endParaRPr lang="en-US" sz="1150" dirty="0"/>
          </a:p>
        </p:txBody>
      </p:sp>
      <p:sp>
        <p:nvSpPr>
          <p:cNvPr id="45" name="Shape 38"/>
          <p:cNvSpPr/>
          <p:nvPr/>
        </p:nvSpPr>
        <p:spPr>
          <a:xfrm>
            <a:off x="9946386" y="2331720"/>
            <a:ext cx="1696669" cy="2880360"/>
          </a:xfrm>
          <a:prstGeom prst="roundRect">
            <a:avLst>
              <a:gd name="adj" fmla="val 7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10492969" y="2029968"/>
            <a:ext cx="603504" cy="60350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10492969" y="202082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8" name="Shape 41"/>
          <p:cNvSpPr/>
          <p:nvPr/>
        </p:nvSpPr>
        <p:spPr>
          <a:xfrm>
            <a:off x="10410673" y="2834640"/>
            <a:ext cx="768096" cy="7680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8059" y="3042026"/>
            <a:ext cx="353324" cy="353324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10019538" y="3703320"/>
            <a:ext cx="155036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Challenge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10019538" y="4325112"/>
            <a:ext cx="155036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Yordamsiz sinov</a:t>
            </a:r>
            <a:endParaRPr lang="en-US" sz="1050" dirty="0"/>
          </a:p>
        </p:txBody>
      </p:sp>
      <p:sp>
        <p:nvSpPr>
          <p:cNvPr id="52" name="Text 44"/>
          <p:cNvSpPr/>
          <p:nvPr/>
        </p:nvSpPr>
        <p:spPr>
          <a:xfrm>
            <a:off x="10019538" y="4727448"/>
            <a:ext cx="155036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daq</a:t>
            </a:r>
            <a:endParaRPr lang="en-US" sz="1150" dirty="0"/>
          </a:p>
        </p:txBody>
      </p:sp>
      <p:sp>
        <p:nvSpPr>
          <p:cNvPr id="53" name="Text 45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daqiqa yakun  —  jami 90 daqiqa. Butun kurs: stomatologiya bo’yicha 10 ta modul.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KO’RINISHI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Talaba shu ekranni qo’liga oladi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F2F7F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85416"/>
            <a:ext cx="384048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27632" y="20208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bemor bilan suhbat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27632" y="2386584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 ingliz tilida savol beradi, AI-bemor real holatdagidek javob qaytaradi.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264408"/>
            <a:ext cx="640080" cy="640080"/>
          </a:xfrm>
          <a:prstGeom prst="ellipse">
            <a:avLst/>
          </a:prstGeom>
          <a:solidFill>
            <a:srgbClr val="F2F7F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392424"/>
            <a:ext cx="384048" cy="3840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" y="3264408"/>
            <a:ext cx="640080" cy="640080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627632" y="32278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Phrasebook yordami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27632" y="359359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Qiynalganda kerakli iboralar bosqichma-bosqich ko’rsatiladi.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471416"/>
            <a:ext cx="640080" cy="640080"/>
          </a:xfrm>
          <a:prstGeom prst="ellipse">
            <a:avLst/>
          </a:prstGeom>
          <a:solidFill>
            <a:srgbClr val="F2F7F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599432"/>
            <a:ext cx="384048" cy="38404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22960" y="4471416"/>
            <a:ext cx="640080" cy="640080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627632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oxirida AI bahosi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27632" y="48006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Grammatika, lug’at va klinik muloqot bo’yicha ball va tavsiyalar.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452360" y="1234440"/>
            <a:ext cx="4160520" cy="52578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blurRad="177800" dist="63500" dir="5400000" algn="bl" rotWithShape="0">
              <a:srgbClr val="7C9298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52360" y="1234440"/>
            <a:ext cx="4160520" cy="868680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21" name="Shape 16"/>
          <p:cNvSpPr/>
          <p:nvPr/>
        </p:nvSpPr>
        <p:spPr>
          <a:xfrm>
            <a:off x="7452360" y="1691640"/>
            <a:ext cx="41605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Shape 17"/>
          <p:cNvSpPr/>
          <p:nvPr/>
        </p:nvSpPr>
        <p:spPr>
          <a:xfrm>
            <a:off x="7653528" y="1417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1517904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75320" y="13807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Patient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27532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F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Dental Pain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708392" y="2404872"/>
            <a:ext cx="3063240" cy="658368"/>
          </a:xfrm>
          <a:prstGeom prst="roundRect">
            <a:avLst>
              <a:gd name="adj" fmla="val 18056"/>
            </a:avLst>
          </a:prstGeom>
          <a:solidFill>
            <a:srgbClr val="EDF2F3"/>
          </a:solidFill>
          <a:ln/>
        </p:spPr>
      </p:sp>
      <p:sp>
        <p:nvSpPr>
          <p:cNvPr id="27" name="Text 21"/>
          <p:cNvSpPr/>
          <p:nvPr/>
        </p:nvSpPr>
        <p:spPr>
          <a:xfrm>
            <a:off x="7845552" y="2478024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Doctor, my tooth really hurts when I drink something cold.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708392" y="218541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8613648" y="3319272"/>
            <a:ext cx="2743200" cy="512064"/>
          </a:xfrm>
          <a:prstGeom prst="roundRect">
            <a:avLst>
              <a:gd name="adj" fmla="val 23214"/>
            </a:avLst>
          </a:prstGeom>
          <a:solidFill>
            <a:srgbClr val="00A896"/>
          </a:solidFill>
          <a:ln/>
        </p:spPr>
      </p:sp>
      <p:sp>
        <p:nvSpPr>
          <p:cNvPr id="30" name="Text 24"/>
          <p:cNvSpPr/>
          <p:nvPr/>
        </p:nvSpPr>
        <p:spPr>
          <a:xfrm>
            <a:off x="8750808" y="33924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see. How long have you had this pain?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8613648" y="30998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7708392" y="4087368"/>
            <a:ext cx="2514600" cy="512064"/>
          </a:xfrm>
          <a:prstGeom prst="roundRect">
            <a:avLst>
              <a:gd name="adj" fmla="val 23214"/>
            </a:avLst>
          </a:prstGeom>
          <a:solidFill>
            <a:srgbClr val="EDF2F3"/>
          </a:solidFill>
          <a:ln/>
        </p:spPr>
      </p:sp>
      <p:sp>
        <p:nvSpPr>
          <p:cNvPr id="33" name="Text 27"/>
          <p:cNvSpPr/>
          <p:nvPr/>
        </p:nvSpPr>
        <p:spPr>
          <a:xfrm>
            <a:off x="7845552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three days. It’s a sharp pain.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8430768" y="4800600"/>
            <a:ext cx="2926080" cy="658368"/>
          </a:xfrm>
          <a:prstGeom prst="roundRect">
            <a:avLst>
              <a:gd name="adj" fmla="val 18056"/>
            </a:avLst>
          </a:prstGeom>
          <a:solidFill>
            <a:srgbClr val="00A896"/>
          </a:solidFill>
          <a:ln/>
        </p:spPr>
      </p:sp>
      <p:sp>
        <p:nvSpPr>
          <p:cNvPr id="35" name="Text 29"/>
          <p:cNvSpPr/>
          <p:nvPr/>
        </p:nvSpPr>
        <p:spPr>
          <a:xfrm>
            <a:off x="8567928" y="487375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last long, or go away quickly after?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7708392" y="5605272"/>
            <a:ext cx="3648456" cy="384048"/>
          </a:xfrm>
          <a:prstGeom prst="roundRect">
            <a:avLst>
              <a:gd name="adj" fmla="val 23810"/>
            </a:avLst>
          </a:prstGeom>
          <a:solidFill>
            <a:srgbClr val="FFF4D6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5678424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110728" y="5605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Phrasebook: “Is the pain triggered by…?”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7708392" y="6062472"/>
            <a:ext cx="3648456" cy="310896"/>
          </a:xfrm>
          <a:prstGeom prst="roundRect">
            <a:avLst>
              <a:gd name="adj" fmla="val 29412"/>
            </a:avLst>
          </a:prstGeom>
          <a:solidFill>
            <a:srgbClr val="E4F7F1"/>
          </a:solidFill>
          <a:ln/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6108192"/>
            <a:ext cx="201168" cy="20116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092440" y="6062472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Feedback:  Grammar 9  ·  Vocabulary 8  ·  Clinical 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QO’LINGIZGA NIMA TEGADI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Mahsulot — g’oya emas, ushlab bo’ladigan tizim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456432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0704" y="2459736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277" y="2652309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368296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Ishlaydigan platforma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20240" y="2770632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Talabalar login qilib kiradigan tayyor tizim — avval web, keyin mobil.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35424" y="2148840"/>
            <a:ext cx="3456432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73168" y="2459736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741" y="2652309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32704" y="2368296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modullik kurs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32704" y="2770632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Stomatologiya bo’yicha to’liq tuzilgan, har biri 90 daqiqalik dars.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47888" y="2148840"/>
            <a:ext cx="3456432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459736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8205" y="2652309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45168" y="2368296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AI Virtual Bemor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345168" y="2770632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Cheksiz mashq — istagancha bemor bilan ingliz tilida muloqot.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3794760"/>
            <a:ext cx="3456432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60704" y="4105656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3277" y="4298229"/>
            <a:ext cx="328087" cy="3280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20240" y="4014216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baholash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920240" y="4416552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suhbatdan keyin ball va tavsiyalar; o’qituvchi vaqtini tejaydi.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35424" y="3794760"/>
            <a:ext cx="3456432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73168" y="4105656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741" y="4298229"/>
            <a:ext cx="328087" cy="3280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32704" y="4014216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O’qituvchi/Admin paneli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632704" y="4416552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Guruhlar va talabalar natijalarini bir joydan boshqarish.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47888" y="3794760"/>
            <a:ext cx="3456432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5632" y="4105656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8205" y="4298229"/>
            <a:ext cx="328087" cy="3280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45168" y="4014216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Hisobotlar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345168" y="4416552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Natijalarni Excel yoki PDF ko’rinishida yuklab olish.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bosqichda 1–2 modul to’liq ishlab beriladi — sinab ko’rasiz, keyin qolgani qo’shiladi.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3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640080"/>
            <a:ext cx="1920240" cy="1143000"/>
          </a:xfrm>
          <a:prstGeom prst="roundRect">
            <a:avLst>
              <a:gd name="adj" fmla="val 28000"/>
            </a:avLst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5029200"/>
            <a:ext cx="1554480" cy="960120"/>
          </a:xfrm>
          <a:prstGeom prst="roundRect">
            <a:avLst>
              <a:gd name="adj" fmla="val 30476"/>
            </a:avLst>
          </a:prstGeom>
          <a:solidFill>
            <a:srgbClr val="02C39A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5394960"/>
            <a:ext cx="1828800" cy="1051560"/>
          </a:xfrm>
          <a:prstGeom prst="roundRect">
            <a:avLst>
              <a:gd name="adj" fmla="val 27826"/>
            </a:avLst>
          </a:prstGeom>
          <a:solidFill>
            <a:srgbClr val="00A896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VA MASSHTAB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Bitta mutaxassislikdan — butun tibbiyot ta’limiga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3383280" cy="2514600"/>
          </a:xfrm>
          <a:prstGeom prst="roundRect">
            <a:avLst>
              <a:gd name="adj" fmla="val 5091"/>
            </a:avLst>
          </a:prstGeom>
          <a:solidFill>
            <a:srgbClr val="0B4653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15568" y="2779776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078" y="2977286"/>
            <a:ext cx="336499" cy="33649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38528" y="285292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Stomatologiya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33856" y="3703320"/>
            <a:ext cx="2761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B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tayyor modul — bugun ishga tushirsa bo’ladigan boshlang’ich mahsulot.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80560" y="2468880"/>
            <a:ext cx="3383280" cy="2514600"/>
          </a:xfrm>
          <a:prstGeom prst="roundRect">
            <a:avLst>
              <a:gd name="adj" fmla="val 5091"/>
            </a:avLst>
          </a:prstGeom>
          <a:solidFill>
            <a:srgbClr val="0B4653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73168" y="2779776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0678" y="2977286"/>
            <a:ext cx="336499" cy="3364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96128" y="285292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mutaxassislik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91456" y="3703320"/>
            <a:ext cx="2761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B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Davolash ishi, pediatriya, jarrohlik… — bir tizim, ko’p yo’nalish.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38160" y="2468880"/>
            <a:ext cx="3383280" cy="2514600"/>
          </a:xfrm>
          <a:prstGeom prst="roundRect">
            <a:avLst>
              <a:gd name="adj" fmla="val 5091"/>
            </a:avLst>
          </a:prstGeom>
          <a:solidFill>
            <a:srgbClr val="0B4653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30768" y="2779776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278" y="2977286"/>
            <a:ext cx="336499" cy="33649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53728" y="285292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Universitetlar + eksport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49056" y="3703320"/>
            <a:ext cx="2761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B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OTM’dan butun mamlakatga, so’ng xorijiy bozorga chiqish.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22960" y="5257800"/>
            <a:ext cx="10561320" cy="777240"/>
          </a:xfrm>
          <a:prstGeom prst="roundRect">
            <a:avLst>
              <a:gd name="adj" fmla="val 14118"/>
            </a:avLst>
          </a:prstGeom>
          <a:solidFill>
            <a:srgbClr val="028090">
              <a:alpha val="8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1051560" y="52578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yangi mutaxassislik va har yangi universitet — bir xil platforma ustida qo’shimcha daromad oqimi.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YO’L XARITASI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Bosqichma-bosqich, past risk bilan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30552" y="2633472"/>
            <a:ext cx="8503920" cy="27432"/>
          </a:xfrm>
          <a:prstGeom prst="rect">
            <a:avLst/>
          </a:prstGeom>
          <a:solidFill>
            <a:srgbClr val="C7D6D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2615184" cy="310896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01368" y="2002536"/>
            <a:ext cx="658368" cy="658368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01368" y="19933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siklni isbotlash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78992" y="3794760"/>
            <a:ext cx="215798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modul to’liq</a:t>
            </a:r>
            <a:endParaRPr lang="en-US" sz="115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bemor + AI baho</a:t>
            </a:r>
            <a:endParaRPr lang="en-US" sz="115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Sinovdan o’tkazish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0" y="2331720"/>
            <a:ext cx="2615184" cy="310896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2002536"/>
            <a:ext cx="658368" cy="658368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9933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0" y="28803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To’liq kurs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40480" y="329184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Stomatologiyani yakunlash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13632" y="3794760"/>
            <a:ext cx="215798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</a:t>
            </a:r>
            <a:endParaRPr lang="en-US" sz="115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Testlar, lug’at</a:t>
            </a:r>
            <a:endParaRPr lang="en-US" sz="115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Statistika, hisobot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2331720"/>
            <a:ext cx="2615184" cy="310896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70648" y="2002536"/>
            <a:ext cx="658368" cy="658368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19933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28803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75120" y="329184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Gapirish va talaffuz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48272" y="3794760"/>
            <a:ext cx="215798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Ovozli suhbat</a:t>
            </a:r>
            <a:endParaRPr lang="en-US" sz="115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Nutqni matnga o’girish</a:t>
            </a:r>
            <a:endParaRPr lang="en-US" sz="115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Talaffuz bahosi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26880" y="2331720"/>
            <a:ext cx="2615184" cy="310896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305288" y="2002536"/>
            <a:ext cx="658368" cy="658368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05288" y="19933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09760" y="28803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Masshtab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509760" y="329184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Kengaytirish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82912" y="3794760"/>
            <a:ext cx="215798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</a:t>
            </a:r>
            <a:r>
              <a:rPr lang="en-US" sz="1150" dirty="0" err="1" smtClean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</a:t>
            </a:r>
            <a:r>
              <a:rPr lang="en-US" sz="1150" dirty="0" smtClean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 market</a:t>
            </a:r>
            <a:endParaRPr lang="en-US" sz="115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mutaxassisliklar</a:t>
            </a:r>
            <a:endParaRPr lang="en-US" sz="115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universitetlar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MUDDAT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kunda ishlaydigan tizim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bosqich oxirida siz natijani ko’rasiz — yakunda hammasi birdan 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30552" y="2935224"/>
            <a:ext cx="8503920" cy="27432"/>
          </a:xfrm>
          <a:prstGeom prst="rect">
            <a:avLst/>
          </a:prstGeom>
          <a:solidFill>
            <a:srgbClr val="C7D6D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06040"/>
            <a:ext cx="2615184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46504" y="2221992"/>
            <a:ext cx="768096" cy="76809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6504" y="22219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172968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1–3-kun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15568" y="397764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va baza</a:t>
            </a:r>
            <a:endParaRPr lang="en-US" sz="12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Ro’yxatdan o’tish, kirish</a:t>
            </a:r>
            <a:endParaRPr lang="en-US" sz="12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 profili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2606040"/>
            <a:ext cx="2615184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2221992"/>
            <a:ext cx="768096" cy="76809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22219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3172968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sikl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0" y="3566160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4–8-kun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950208" y="397764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Bemor suhbati</a:t>
            </a:r>
            <a:endParaRPr lang="en-US" sz="12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 va Retry</a:t>
            </a:r>
            <a:endParaRPr lang="en-US" sz="12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1-modul to’liq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606040"/>
            <a:ext cx="2615184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15784" y="2221992"/>
            <a:ext cx="768096" cy="76809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5784" y="22219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3172968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75120" y="3566160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9–12-kun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84848" y="397764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 va 3-modul</a:t>
            </a:r>
            <a:endParaRPr lang="en-US" sz="12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+ Phrasebook</a:t>
            </a:r>
            <a:endParaRPr lang="en-US" sz="12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26880" y="2606040"/>
            <a:ext cx="2615184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50424" y="2221992"/>
            <a:ext cx="768096" cy="768096"/>
          </a:xfrm>
          <a:prstGeom prst="ellipse">
            <a:avLst/>
          </a:prstGeom>
          <a:solidFill>
            <a:srgbClr val="02C39A"/>
          </a:solidFill>
          <a:ln w="38100">
            <a:solidFill>
              <a:srgbClr val="F2F7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50424" y="22219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09760" y="3172968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09760" y="3566160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13–15-kun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19488" y="397764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va tuzatish</a:t>
            </a:r>
            <a:endParaRPr lang="en-US" sz="12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Serverga joylash</a:t>
            </a:r>
            <a:endParaRPr lang="en-US" sz="12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Topshirish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Uch variant — byudjetingizga qarab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8328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15568" y="22037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Boshlang’ich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2651760"/>
            <a:ext cx="27980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 smtClean="0">
                <a:solidFill>
                  <a:srgbClr val="15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15568" y="333756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 modul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15568" y="379476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895" y="3851087"/>
            <a:ext cx="143378" cy="1433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37581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 talaba profili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115568" y="416052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895" y="4216847"/>
            <a:ext cx="143378" cy="1433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81328" y="41239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 to’liq modul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115568" y="452628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895" y="4582607"/>
            <a:ext cx="143378" cy="1433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81328" y="448970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Bemor + AI baho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115568" y="489204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895" y="4948367"/>
            <a:ext cx="143378" cy="14337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81328" y="4855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Sodda admin panel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480560" y="1965960"/>
            <a:ext cx="3383280" cy="3291840"/>
          </a:xfrm>
          <a:prstGeom prst="roundRect">
            <a:avLst>
              <a:gd name="adj" fmla="val 3889"/>
            </a:avLst>
          </a:prstGeom>
          <a:solidFill>
            <a:srgbClr val="07323B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46520" y="222199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2" name="Text 16"/>
          <p:cNvSpPr/>
          <p:nvPr/>
        </p:nvSpPr>
        <p:spPr>
          <a:xfrm>
            <a:off x="6446520" y="222199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TAVSIYA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773168" y="22037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773168" y="2651760"/>
            <a:ext cx="27980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4000" dirty="0"/>
          </a:p>
        </p:txBody>
      </p:sp>
      <p:sp>
        <p:nvSpPr>
          <p:cNvPr id="25" name="Text 19"/>
          <p:cNvSpPr/>
          <p:nvPr/>
        </p:nvSpPr>
        <p:spPr>
          <a:xfrm>
            <a:off x="4773168" y="333756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modul · tavsiya etiladi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773168" y="379476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495" y="3851087"/>
            <a:ext cx="143378" cy="14337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38928" y="37581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 talaba profili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773168" y="416052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495" y="4216847"/>
            <a:ext cx="143378" cy="14337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38928" y="41239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to’liq modul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4773168" y="452628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495" y="4582607"/>
            <a:ext cx="143378" cy="14337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38928" y="448970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Bemor + AI baho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4773168" y="489204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495" y="4948367"/>
            <a:ext cx="143378" cy="14337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138928" y="4855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+ </a:t>
            </a:r>
            <a:r>
              <a:rPr lang="en-US" sz="1200" dirty="0" err="1" smtClean="0">
                <a:solidFill>
                  <a:srgbClr val="D6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</a:t>
            </a:r>
            <a:r>
              <a:rPr lang="en-US" sz="1200" dirty="0" smtClean="0">
                <a:solidFill>
                  <a:srgbClr val="D6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Excel export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8138160" y="1965960"/>
            <a:ext cx="338328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39" name="Text 29"/>
          <p:cNvSpPr/>
          <p:nvPr/>
        </p:nvSpPr>
        <p:spPr>
          <a:xfrm>
            <a:off x="8430768" y="22037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Kengaytirilgan</a:t>
            </a:r>
            <a:endParaRPr lang="en-US" sz="1500" dirty="0"/>
          </a:p>
        </p:txBody>
      </p:sp>
      <p:sp>
        <p:nvSpPr>
          <p:cNvPr id="40" name="Text 30"/>
          <p:cNvSpPr/>
          <p:nvPr/>
        </p:nvSpPr>
        <p:spPr>
          <a:xfrm>
            <a:off x="8430768" y="2651760"/>
            <a:ext cx="27980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 smtClean="0">
                <a:solidFill>
                  <a:srgbClr val="15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4000" dirty="0"/>
          </a:p>
        </p:txBody>
      </p:sp>
      <p:sp>
        <p:nvSpPr>
          <p:cNvPr id="41" name="Text 31"/>
          <p:cNvSpPr/>
          <p:nvPr/>
        </p:nvSpPr>
        <p:spPr>
          <a:xfrm>
            <a:off x="8430768" y="333756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 modul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8430768" y="379476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095" y="3851087"/>
            <a:ext cx="143378" cy="14337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8796528" y="37581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paketdagi hammasi</a:t>
            </a:r>
            <a:endParaRPr lang="en-US" sz="1200" dirty="0"/>
          </a:p>
        </p:txBody>
      </p:sp>
      <p:sp>
        <p:nvSpPr>
          <p:cNvPr id="45" name="Shape 34"/>
          <p:cNvSpPr/>
          <p:nvPr/>
        </p:nvSpPr>
        <p:spPr>
          <a:xfrm>
            <a:off x="8430768" y="416052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095" y="4216847"/>
            <a:ext cx="143378" cy="14337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8796528" y="41239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 to’liq modul</a:t>
            </a:r>
            <a:endParaRPr lang="en-US" sz="1200" dirty="0"/>
          </a:p>
        </p:txBody>
      </p:sp>
      <p:sp>
        <p:nvSpPr>
          <p:cNvPr id="48" name="Shape 36"/>
          <p:cNvSpPr/>
          <p:nvPr/>
        </p:nvSpPr>
        <p:spPr>
          <a:xfrm>
            <a:off x="8430768" y="452628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095" y="4582607"/>
            <a:ext cx="143378" cy="143378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8796528" y="448970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err="1" smtClean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</a:t>
            </a:r>
            <a:r>
              <a:rPr lang="en-US" sz="1200" dirty="0" smtClean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paneli</a:t>
            </a:r>
            <a:endParaRPr lang="en-US" sz="1200" dirty="0"/>
          </a:p>
        </p:txBody>
      </p:sp>
      <p:sp>
        <p:nvSpPr>
          <p:cNvPr id="51" name="Shape 38"/>
          <p:cNvSpPr/>
          <p:nvPr/>
        </p:nvSpPr>
        <p:spPr>
          <a:xfrm>
            <a:off x="8430768" y="489204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095" y="4948367"/>
            <a:ext cx="143378" cy="143378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8796528" y="4855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</a:t>
            </a:r>
            <a:r>
              <a:rPr lang="en-US" sz="1200" dirty="0" err="1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</a:t>
            </a:r>
            <a:r>
              <a:rPr lang="en-US" sz="120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CONVERSATION + </a:t>
            </a:r>
            <a:r>
              <a:rPr lang="en-US" sz="120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200" dirty="0" err="1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</a:t>
            </a:r>
            <a:endParaRPr lang="en-US" sz="1200" dirty="0">
              <a:solidFill>
                <a:srgbClr val="1532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4" name="Shape 40"/>
          <p:cNvSpPr/>
          <p:nvPr/>
        </p:nvSpPr>
        <p:spPr>
          <a:xfrm>
            <a:off x="822960" y="5486400"/>
            <a:ext cx="105613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55" name="Shape 41"/>
          <p:cNvSpPr/>
          <p:nvPr/>
        </p:nvSpPr>
        <p:spPr>
          <a:xfrm>
            <a:off x="1051560" y="5715000"/>
            <a:ext cx="502920" cy="502920"/>
          </a:xfrm>
          <a:prstGeom prst="ellipse">
            <a:avLst/>
          </a:prstGeom>
          <a:solidFill>
            <a:srgbClr val="F2F7F7"/>
          </a:solidFill>
          <a:ln/>
        </p:spPr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6" y="5805526"/>
            <a:ext cx="321869" cy="321869"/>
          </a:xfrm>
          <a:prstGeom prst="rect">
            <a:avLst/>
          </a:prstGeom>
        </p:spPr>
      </p:pic>
      <p:sp>
        <p:nvSpPr>
          <p:cNvPr id="57" name="Shape 42"/>
          <p:cNvSpPr/>
          <p:nvPr/>
        </p:nvSpPr>
        <p:spPr>
          <a:xfrm>
            <a:off x="1051560" y="5715000"/>
            <a:ext cx="502920" cy="502920"/>
          </a:xfrm>
          <a:prstGeom prst="ellipse">
            <a:avLst/>
          </a:prstGeom>
          <a:ln w="15240">
            <a:solidFill>
              <a:srgbClr val="028090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1673352" y="563270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kun</a:t>
            </a:r>
            <a:endParaRPr lang="en-US" sz="1500" dirty="0"/>
          </a:p>
        </p:txBody>
      </p:sp>
      <p:sp>
        <p:nvSpPr>
          <p:cNvPr id="59" name="Text 44"/>
          <p:cNvSpPr/>
          <p:nvPr/>
        </p:nvSpPr>
        <p:spPr>
          <a:xfrm>
            <a:off x="1673352" y="592531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topshirish muddati</a:t>
            </a:r>
            <a:endParaRPr lang="en-US" sz="950" dirty="0"/>
          </a:p>
        </p:txBody>
      </p:sp>
      <p:sp>
        <p:nvSpPr>
          <p:cNvPr id="60" name="Shape 45"/>
          <p:cNvSpPr/>
          <p:nvPr/>
        </p:nvSpPr>
        <p:spPr>
          <a:xfrm>
            <a:off x="3685032" y="5715000"/>
            <a:ext cx="502920" cy="502920"/>
          </a:xfrm>
          <a:prstGeom prst="ellipse">
            <a:avLst/>
          </a:prstGeom>
          <a:solidFill>
            <a:srgbClr val="F2F7F7"/>
          </a:solidFill>
          <a:ln/>
        </p:spPr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558" y="5805526"/>
            <a:ext cx="321869" cy="321869"/>
          </a:xfrm>
          <a:prstGeom prst="rect">
            <a:avLst/>
          </a:prstGeom>
        </p:spPr>
      </p:pic>
      <p:sp>
        <p:nvSpPr>
          <p:cNvPr id="62" name="Shape 46"/>
          <p:cNvSpPr/>
          <p:nvPr/>
        </p:nvSpPr>
        <p:spPr>
          <a:xfrm>
            <a:off x="3685032" y="5715000"/>
            <a:ext cx="502920" cy="502920"/>
          </a:xfrm>
          <a:prstGeom prst="ellipse">
            <a:avLst/>
          </a:prstGeom>
          <a:ln w="15240">
            <a:solidFill>
              <a:srgbClr val="028090"/>
            </a:solidFill>
            <a:prstDash val="solid"/>
          </a:ln>
        </p:spPr>
      </p:sp>
      <p:sp>
        <p:nvSpPr>
          <p:cNvPr id="63" name="Text 47"/>
          <p:cNvSpPr/>
          <p:nvPr/>
        </p:nvSpPr>
        <p:spPr>
          <a:xfrm>
            <a:off x="4306824" y="563270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500" dirty="0"/>
          </a:p>
        </p:txBody>
      </p:sp>
      <p:sp>
        <p:nvSpPr>
          <p:cNvPr id="64" name="Text 48"/>
          <p:cNvSpPr/>
          <p:nvPr/>
        </p:nvSpPr>
        <p:spPr>
          <a:xfrm>
            <a:off x="4306824" y="592531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avans, qolgani topshirishda</a:t>
            </a:r>
            <a:endParaRPr lang="en-US" sz="950" dirty="0"/>
          </a:p>
        </p:txBody>
      </p:sp>
      <p:sp>
        <p:nvSpPr>
          <p:cNvPr id="65" name="Shape 49"/>
          <p:cNvSpPr/>
          <p:nvPr/>
        </p:nvSpPr>
        <p:spPr>
          <a:xfrm>
            <a:off x="6318504" y="5715000"/>
            <a:ext cx="502920" cy="502920"/>
          </a:xfrm>
          <a:prstGeom prst="ellipse">
            <a:avLst/>
          </a:prstGeom>
          <a:solidFill>
            <a:srgbClr val="F2F7F7"/>
          </a:solidFill>
          <a:ln/>
        </p:spPr>
      </p:sp>
      <p:pic>
        <p:nvPicPr>
          <p:cNvPr id="6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030" y="5805526"/>
            <a:ext cx="321869" cy="321869"/>
          </a:xfrm>
          <a:prstGeom prst="rect">
            <a:avLst/>
          </a:prstGeom>
        </p:spPr>
      </p:pic>
      <p:sp>
        <p:nvSpPr>
          <p:cNvPr id="67" name="Shape 50"/>
          <p:cNvSpPr/>
          <p:nvPr/>
        </p:nvSpPr>
        <p:spPr>
          <a:xfrm>
            <a:off x="6318504" y="5715000"/>
            <a:ext cx="502920" cy="502920"/>
          </a:xfrm>
          <a:prstGeom prst="ellipse">
            <a:avLst/>
          </a:prstGeom>
          <a:ln w="15240">
            <a:solidFill>
              <a:srgbClr val="028090"/>
            </a:solidFill>
            <a:prstDash val="solid"/>
          </a:ln>
        </p:spPr>
      </p:sp>
      <p:sp>
        <p:nvSpPr>
          <p:cNvPr id="68" name="Text 51"/>
          <p:cNvSpPr/>
          <p:nvPr/>
        </p:nvSpPr>
        <p:spPr>
          <a:xfrm>
            <a:off x="6940296" y="563270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$40–70</a:t>
            </a:r>
            <a:endParaRPr lang="en-US" sz="1500" dirty="0"/>
          </a:p>
        </p:txBody>
      </p:sp>
      <p:sp>
        <p:nvSpPr>
          <p:cNvPr id="69" name="Text 52"/>
          <p:cNvSpPr/>
          <p:nvPr/>
        </p:nvSpPr>
        <p:spPr>
          <a:xfrm>
            <a:off x="6940296" y="592531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oylik AI va server (buyurtmachi)</a:t>
            </a:r>
            <a:endParaRPr lang="en-US" sz="950" dirty="0"/>
          </a:p>
        </p:txBody>
      </p:sp>
      <p:sp>
        <p:nvSpPr>
          <p:cNvPr id="70" name="Shape 53"/>
          <p:cNvSpPr/>
          <p:nvPr/>
        </p:nvSpPr>
        <p:spPr>
          <a:xfrm>
            <a:off x="8951976" y="5715000"/>
            <a:ext cx="502920" cy="502920"/>
          </a:xfrm>
          <a:prstGeom prst="ellipse">
            <a:avLst/>
          </a:prstGeom>
          <a:solidFill>
            <a:srgbClr val="F2F7F7"/>
          </a:solidFill>
          <a:ln/>
        </p:spPr>
      </p:sp>
      <p:pic>
        <p:nvPicPr>
          <p:cNvPr id="71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2502" y="5805526"/>
            <a:ext cx="321869" cy="321869"/>
          </a:xfrm>
          <a:prstGeom prst="rect">
            <a:avLst/>
          </a:prstGeom>
        </p:spPr>
      </p:pic>
      <p:sp>
        <p:nvSpPr>
          <p:cNvPr id="72" name="Shape 54"/>
          <p:cNvSpPr/>
          <p:nvPr/>
        </p:nvSpPr>
        <p:spPr>
          <a:xfrm>
            <a:off x="8951976" y="5715000"/>
            <a:ext cx="502920" cy="502920"/>
          </a:xfrm>
          <a:prstGeom prst="ellipse">
            <a:avLst/>
          </a:prstGeom>
          <a:ln w="15240">
            <a:solidFill>
              <a:srgbClr val="028090"/>
            </a:solidFill>
            <a:prstDash val="solid"/>
          </a:ln>
        </p:spPr>
      </p:sp>
      <p:sp>
        <p:nvSpPr>
          <p:cNvPr id="73" name="Text 55"/>
          <p:cNvSpPr/>
          <p:nvPr/>
        </p:nvSpPr>
        <p:spPr>
          <a:xfrm>
            <a:off x="9573768" y="563270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500" dirty="0"/>
          </a:p>
        </p:txBody>
      </p:sp>
      <p:sp>
        <p:nvSpPr>
          <p:cNvPr id="74" name="Text 56"/>
          <p:cNvSpPr/>
          <p:nvPr/>
        </p:nvSpPr>
        <p:spPr>
          <a:xfrm>
            <a:off x="9573768" y="592531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qo’shimcha modul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3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640080"/>
            <a:ext cx="1920240" cy="1143000"/>
          </a:xfrm>
          <a:prstGeom prst="roundRect">
            <a:avLst>
              <a:gd name="adj" fmla="val 28000"/>
            </a:avLst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5029200"/>
            <a:ext cx="1554480" cy="960120"/>
          </a:xfrm>
          <a:prstGeom prst="roundRect">
            <a:avLst>
              <a:gd name="adj" fmla="val 30476"/>
            </a:avLst>
          </a:prstGeom>
          <a:solidFill>
            <a:srgbClr val="02C39A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5394960"/>
            <a:ext cx="1828800" cy="1051560"/>
          </a:xfrm>
          <a:prstGeom prst="roundRect">
            <a:avLst>
              <a:gd name="adj" fmla="val 27826"/>
            </a:avLst>
          </a:prstGeom>
          <a:solidFill>
            <a:srgbClr val="00A896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INVESTITSIYA ARZIYDI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Mintaqada birinchi bo’lish imkoniyati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3383280" cy="2286000"/>
          </a:xfrm>
          <a:prstGeom prst="roundRect">
            <a:avLst>
              <a:gd name="adj" fmla="val 5600"/>
            </a:avLst>
          </a:prstGeom>
          <a:solidFill>
            <a:srgbClr val="0B4653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15568" y="2624328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41" y="2816901"/>
            <a:ext cx="328087" cy="3280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3856" y="3429000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Masshtablanadigan model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133856" y="3867912"/>
            <a:ext cx="2761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B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platforma — ko’p mutaxassislik, ko’p universitet, takrorlanuvchi daromad.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80560" y="2331720"/>
            <a:ext cx="3383280" cy="2286000"/>
          </a:xfrm>
          <a:prstGeom prst="roundRect">
            <a:avLst>
              <a:gd name="adj" fmla="val 5600"/>
            </a:avLst>
          </a:prstGeom>
          <a:solidFill>
            <a:srgbClr val="0B4653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73168" y="2624328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741" y="2816901"/>
            <a:ext cx="328087" cy="3280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91456" y="3429000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harakatlanuvchi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791456" y="3867912"/>
            <a:ext cx="2761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B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ingliz tili + AI bemor bo’yicha mintaqada tayyor raqib deyarli yo’q.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2331720"/>
            <a:ext cx="3383280" cy="2286000"/>
          </a:xfrm>
          <a:prstGeom prst="roundRect">
            <a:avLst>
              <a:gd name="adj" fmla="val 5600"/>
            </a:avLst>
          </a:prstGeom>
          <a:solidFill>
            <a:srgbClr val="0B4653"/>
          </a:solidFill>
          <a:ln/>
          <a:effectLst>
            <a:outerShdw blurRad="114300" dist="38100" dir="5400000" algn="bl" rotWithShape="0">
              <a:srgbClr val="9FB3B8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30768" y="2624328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3341" y="2816901"/>
            <a:ext cx="328087" cy="32808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49056" y="3429000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Himoyalangan qiymat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449056" y="3867912"/>
            <a:ext cx="2761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B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Mutaxassislar tasdiqlagan klinik kontent — oson nusxa ko’chirib bo’lmaydigan aktiv.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22960" y="5029200"/>
            <a:ext cx="10561320" cy="1097280"/>
          </a:xfrm>
          <a:prstGeom prst="roundRect">
            <a:avLst>
              <a:gd name="adj" fmla="val 11667"/>
            </a:avLst>
          </a:prstGeom>
          <a:solidFill>
            <a:srgbClr val="02C39A"/>
          </a:solidFill>
          <a:ln/>
        </p:spPr>
      </p:sp>
      <p:sp>
        <p:nvSpPr>
          <p:cNvPr id="23" name="Text 18"/>
          <p:cNvSpPr/>
          <p:nvPr/>
        </p:nvSpPr>
        <p:spPr>
          <a:xfrm>
            <a:off x="1143000" y="513892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Keling, MVP’dan boshlaymiz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1143000" y="55961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Kichik, ishlaydigan namuna — keyin masshtab.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8321040" y="5285232"/>
            <a:ext cx="2834640" cy="585216"/>
          </a:xfrm>
          <a:prstGeom prst="roundRect">
            <a:avLst>
              <a:gd name="adj" fmla="val 50000"/>
            </a:avLst>
          </a:prstGeom>
          <a:solidFill>
            <a:srgbClr val="07323B"/>
          </a:solidFill>
          <a:ln/>
        </p:spPr>
      </p:sp>
      <p:sp>
        <p:nvSpPr>
          <p:cNvPr id="26" name="Text 21"/>
          <p:cNvSpPr/>
          <p:nvPr/>
        </p:nvSpPr>
        <p:spPr>
          <a:xfrm>
            <a:off x="8321040" y="5285232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Bog’lanish / muhokama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1147</Words>
  <Application>Microsoft Office PowerPoint</Application>
  <PresentationFormat>Широкоэкранный</PresentationFormat>
  <Paragraphs>213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Asliddin Sayidqulov</cp:lastModifiedBy>
  <cp:revision>3</cp:revision>
  <dcterms:created xsi:type="dcterms:W3CDTF">2026-08-11T13:04:18Z</dcterms:created>
  <dcterms:modified xsi:type="dcterms:W3CDTF">2026-08-11T13:26:06Z</dcterms:modified>
</cp:coreProperties>
</file>